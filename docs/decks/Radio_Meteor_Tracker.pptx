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77B4"/>
                </a:solidFill>
              </a:rPr>
              <a:t>Radio Meteor Tracker</a:t>
            </a:r>
          </a:p>
          <a:p>
            <a:r>
              <a:rPr sz="1500">
                <a:solidFill>
                  <a:srgbClr val="555555"/>
                </a:solidFill>
              </a:rPr>
              <a:t>RTL-SDR FM forward-scatter meteor detection  |  Seattle, WA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234440"/>
            <a:ext cx="11064240" cy="38100"/>
          </a:xfrm>
          <a:prstGeom prst="rect">
            <a:avLst/>
          </a:prstGeom>
          <a:solidFill>
            <a:srgbClr val="1F77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011680"/>
            <a:ext cx="109728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r>
              <a:rPr sz="2200" b="1">
                <a:solidFill>
                  <a:srgbClr val="222222"/>
                </a:solidFill>
              </a:rPr>
              <a:t>Design, status, and roadmap</a:t>
            </a:r>
          </a:p>
          <a:p>
            <a:r>
              <a:rPr sz="1800" b="0">
                <a:solidFill>
                  <a:srgbClr val="1F77B4"/>
                </a:solidFill>
              </a:rPr>
              <a:t>Release v1.2  -  GUI, Classification &amp; Reporting</a:t>
            </a:r>
          </a:p>
          <a:p>
            <a:r>
              <a:rPr sz="1500" b="0">
                <a:solidFill>
                  <a:srgbClr val="555555"/>
                </a:solidFill>
              </a:rPr>
              <a:t>Detect meteors by the radio echoes their ionized trails reflect from a</a:t>
            </a:r>
          </a:p>
          <a:p>
            <a:r>
              <a:rPr sz="1500" b="0">
                <a:solidFill>
                  <a:srgbClr val="555555"/>
                </a:solidFill>
              </a:rPr>
              <a:t>distant FM transmitter that is normally below the horizon.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510528"/>
            <a:ext cx="7772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999999"/>
                </a:solidFill>
              </a:rPr>
              <a:t>Radio Meteor Tracker  ·  Code &amp; Versions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0" y="6510528"/>
            <a:ext cx="35661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999999"/>
                </a:solidFill>
              </a:rPr>
              <a:t>code v1.5  ·  2026-07-13  ·  1/18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77B4"/>
                </a:solidFill>
              </a:rPr>
              <a:t>What is radio meteor forward-scatter?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234440"/>
            <a:ext cx="11064240" cy="38100"/>
          </a:xfrm>
          <a:prstGeom prst="rect">
            <a:avLst/>
          </a:prstGeom>
          <a:solidFill>
            <a:srgbClr val="1F77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554480"/>
            <a:ext cx="1106424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800">
                <a:solidFill>
                  <a:srgbClr val="222222"/>
                </a:solidFill>
              </a:rPr>
              <a:t>- A meteor entering the atmosphere (~80-120 km) leaves a brief trail of</a:t>
            </a:r>
          </a:p>
          <a:p>
            <a:pPr lvl="1">
              <a:spcAft>
                <a:spcPts val="500"/>
              </a:spcAft>
            </a:pPr>
            <a:r>
              <a:rPr sz="1600">
                <a:solidFill>
                  <a:srgbClr val="555555"/>
                </a:solidFill>
              </a:rPr>
              <a:t>  . ionized gas that reflects VHF radio like a mirror.</a:t>
            </a:r>
          </a:p>
          <a:p>
            <a:pPr>
              <a:spcAft>
                <a:spcPts val="500"/>
              </a:spcAft>
            </a:pPr>
            <a:r>
              <a:rPr sz="1800">
                <a:solidFill>
                  <a:srgbClr val="222222"/>
                </a:solidFill>
              </a:rPr>
              <a:t>- Point the receiver at a powerful transmitter far beyond the horizon.</a:t>
            </a:r>
          </a:p>
          <a:p>
            <a:pPr lvl="1">
              <a:spcAft>
                <a:spcPts val="500"/>
              </a:spcAft>
            </a:pPr>
            <a:r>
              <a:rPr sz="1600">
                <a:solidFill>
                  <a:srgbClr val="555555"/>
                </a:solidFill>
              </a:rPr>
              <a:t>  . Normally you hear nothing (the signal passes overhead).</a:t>
            </a:r>
          </a:p>
          <a:p>
            <a:pPr lvl="1">
              <a:spcAft>
                <a:spcPts val="500"/>
              </a:spcAft>
            </a:pPr>
            <a:r>
              <a:rPr sz="1600">
                <a:solidFill>
                  <a:srgbClr val="555555"/>
                </a:solidFill>
              </a:rPr>
              <a:t>  . When a trail forms in the common volume, it reflects the signal down</a:t>
            </a:r>
          </a:p>
          <a:p>
            <a:pPr lvl="1">
              <a:spcAft>
                <a:spcPts val="500"/>
              </a:spcAft>
            </a:pPr>
            <a:r>
              <a:rPr sz="1600">
                <a:solidFill>
                  <a:srgbClr val="555555"/>
                </a:solidFill>
              </a:rPr>
              <a:t>  . to you as a brief 'ping' (a few ms to ~1 s).</a:t>
            </a:r>
          </a:p>
          <a:p>
            <a:pPr>
              <a:spcAft>
                <a:spcPts val="500"/>
              </a:spcAft>
            </a:pPr>
            <a:r>
              <a:rPr sz="1800">
                <a:solidFill>
                  <a:srgbClr val="222222"/>
                </a:solidFill>
              </a:rPr>
              <a:t>- Works day and night, in any weather - a key advantage over visual.</a:t>
            </a:r>
          </a:p>
          <a:p>
            <a:pPr>
              <a:spcAft>
                <a:spcPts val="500"/>
              </a:spcAft>
            </a:pPr>
            <a:r>
              <a:rPr sz="1800">
                <a:solidFill>
                  <a:srgbClr val="222222"/>
                </a:solidFill>
              </a:rPr>
              <a:t>- Count / time-stamp pings to measure meteor activity and shower peaks.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510528"/>
            <a:ext cx="7772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999999"/>
                </a:solidFill>
              </a:rPr>
              <a:t>Radio Meteor Tracker  ·  Code &amp; Versions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0" y="6510528"/>
            <a:ext cx="35661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999999"/>
                </a:solidFill>
              </a:rPr>
              <a:t>code v1.5  ·  2026-07-13  ·  2/18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77B4"/>
                </a:solidFill>
              </a:rPr>
              <a:t>Choosing the frequency: 104.3 MHz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234440"/>
            <a:ext cx="11064240" cy="38100"/>
          </a:xfrm>
          <a:prstGeom prst="rect">
            <a:avLst/>
          </a:prstGeom>
          <a:solidFill>
            <a:srgbClr val="1F77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554480"/>
            <a:ext cx="1106424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800">
                <a:solidFill>
                  <a:srgbClr val="222222"/>
                </a:solidFill>
              </a:rPr>
              <a:t>- Europe has dedicated beacons (GRAVES 143.05 MHz); North America does not.</a:t>
            </a:r>
          </a:p>
          <a:p>
            <a:pPr>
              <a:spcAft>
                <a:spcPts val="500"/>
              </a:spcAft>
            </a:pPr>
            <a:r>
              <a:rPr sz="1800">
                <a:solidFill>
                  <a:srgbClr val="222222"/>
                </a:solidFill>
              </a:rPr>
              <a:t>- -&gt; Use FM broadcast forward-scatter: a channel VACANT locally but carrying</a:t>
            </a:r>
          </a:p>
          <a:p>
            <a:pPr lvl="1">
              <a:spcAft>
                <a:spcPts val="500"/>
              </a:spcAft>
            </a:pPr>
            <a:r>
              <a:rPr sz="1600">
                <a:solidFill>
                  <a:srgbClr val="555555"/>
                </a:solidFill>
              </a:rPr>
              <a:t>  . a high-power station a few hundred km away.</a:t>
            </a:r>
          </a:p>
          <a:p>
            <a:pPr>
              <a:spcAft>
                <a:spcPts val="500"/>
              </a:spcAft>
            </a:pPr>
            <a:r>
              <a:rPr sz="1800">
                <a:solidFill>
                  <a:srgbClr val="222222"/>
                </a:solidFill>
              </a:rPr>
              <a:t>- Measured the Seattle FM band with the dongle (fm_vacancy.py):</a:t>
            </a:r>
          </a:p>
          <a:p>
            <a:pPr lvl="1">
              <a:spcAft>
                <a:spcPts val="500"/>
              </a:spcAft>
            </a:pPr>
            <a:r>
              <a:rPr sz="1600">
                <a:solidFill>
                  <a:srgbClr val="555555"/>
                </a:solidFill>
              </a:rPr>
              <a:t>  . 104.3 MHz sits ~12 dB below the noise floor - locally empty.</a:t>
            </a:r>
          </a:p>
          <a:p>
            <a:pPr>
              <a:spcAft>
                <a:spcPts val="500"/>
              </a:spcAft>
            </a:pPr>
            <a:r>
              <a:rPr sz="1800">
                <a:solidFill>
                  <a:srgbClr val="222222"/>
                </a:solidFill>
              </a:rPr>
              <a:t>- Distant co-channel stations on 104.3 (beyond the horizon):</a:t>
            </a:r>
          </a:p>
          <a:p>
            <a:pPr lvl="1">
              <a:spcAft>
                <a:spcPts val="500"/>
              </a:spcAft>
            </a:pPr>
            <a:r>
              <a:rPr sz="1600">
                <a:solidFill>
                  <a:srgbClr val="555555"/>
                </a:solidFill>
              </a:rPr>
              <a:t>  . KAWO, Boise ID  -  52 kW  -  ~650 km  (ideal geometry)</a:t>
            </a:r>
          </a:p>
          <a:p>
            <a:pPr lvl="1">
              <a:spcAft>
                <a:spcPts val="500"/>
              </a:spcAft>
            </a:pPr>
            <a:r>
              <a:rPr sz="1600">
                <a:solidFill>
                  <a:srgbClr val="555555"/>
                </a:solidFill>
              </a:rPr>
              <a:t>  . KSOP-FM, Salt Lake City UT  -  25 kW  -  ~1100 km  (bonus reflector)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510528"/>
            <a:ext cx="7772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999999"/>
                </a:solidFill>
              </a:rPr>
              <a:t>Radio Meteor Tracker  ·  Code &amp; Versions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0" y="6510528"/>
            <a:ext cx="35661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999999"/>
                </a:solidFill>
              </a:rPr>
              <a:t>code v1.5  ·  2026-07-13  ·  3/18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77B4"/>
                </a:solidFill>
              </a:rPr>
              <a:t>Inputs: Hardware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234440"/>
            <a:ext cx="11064240" cy="38100"/>
          </a:xfrm>
          <a:prstGeom prst="rect">
            <a:avLst/>
          </a:prstGeom>
          <a:solidFill>
            <a:srgbClr val="1F77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554480"/>
            <a:ext cx="1106424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800">
                <a:solidFill>
                  <a:srgbClr val="222222"/>
                </a:solidFill>
              </a:rPr>
              <a:t>- RTL-SDR dongle:</a:t>
            </a:r>
          </a:p>
          <a:p>
            <a:pPr lvl="1">
              <a:spcAft>
                <a:spcPts val="500"/>
              </a:spcAft>
            </a:pPr>
            <a:r>
              <a:rPr sz="1600">
                <a:solidFill>
                  <a:srgbClr val="555555"/>
                </a:solidFill>
              </a:rPr>
              <a:t>  . RTL2832U demodulator + Rafael Micro R820T tuner (USB 0BDA:2838)</a:t>
            </a:r>
          </a:p>
          <a:p>
            <a:pPr lvl="1">
              <a:spcAft>
                <a:spcPts val="500"/>
              </a:spcAft>
            </a:pPr>
            <a:r>
              <a:rPr sz="1600">
                <a:solidFill>
                  <a:srgbClr val="555555"/>
                </a:solidFill>
              </a:rPr>
              <a:t>  . Delivers raw IQ samples over USB; tunable ~24-1766 MHz</a:t>
            </a:r>
          </a:p>
          <a:p>
            <a:pPr>
              <a:spcAft>
                <a:spcPts val="500"/>
              </a:spcAft>
            </a:pPr>
            <a:r>
              <a:rPr sz="1800">
                <a:solidFill>
                  <a:srgbClr val="222222"/>
                </a:solidFill>
              </a:rPr>
              <a:t>- Antenna:</a:t>
            </a:r>
          </a:p>
          <a:p>
            <a:pPr lvl="1">
              <a:spcAft>
                <a:spcPts val="500"/>
              </a:spcAft>
            </a:pPr>
            <a:r>
              <a:rPr sz="1600">
                <a:solidFill>
                  <a:srgbClr val="555555"/>
                </a:solidFill>
              </a:rPr>
              <a:t>  . Small whip (used for bring-up). Weak-signal work wants better:</a:t>
            </a:r>
          </a:p>
          <a:p>
            <a:pPr lvl="1">
              <a:spcAft>
                <a:spcPts val="500"/>
              </a:spcAft>
            </a:pPr>
            <a:r>
              <a:rPr sz="1600">
                <a:solidFill>
                  <a:srgbClr val="555555"/>
                </a:solidFill>
              </a:rPr>
              <a:t>  . horizontal dipole or 3-el Yagi aimed ~SE toward Boise</a:t>
            </a:r>
          </a:p>
          <a:p>
            <a:pPr>
              <a:spcAft>
                <a:spcPts val="500"/>
              </a:spcAft>
            </a:pPr>
            <a:r>
              <a:rPr sz="1800">
                <a:solidFill>
                  <a:srgbClr val="222222"/>
                </a:solidFill>
              </a:rPr>
              <a:t>- Host PC: Windows 11, USB 2.0+</a:t>
            </a:r>
          </a:p>
          <a:p>
            <a:pPr>
              <a:spcAft>
                <a:spcPts val="500"/>
              </a:spcAft>
            </a:pPr>
            <a:r>
              <a:rPr sz="1800">
                <a:solidFill>
                  <a:srgbClr val="222222"/>
                </a:solidFill>
              </a:rPr>
              <a:t>- Driver: WinUSB bound to dongle Interface 0 via Zadig</a:t>
            </a:r>
          </a:p>
          <a:p>
            <a:pPr lvl="1">
              <a:spcAft>
                <a:spcPts val="500"/>
              </a:spcAft>
            </a:pPr>
            <a:r>
              <a:rPr sz="1600">
                <a:solidFill>
                  <a:srgbClr val="555555"/>
                </a:solidFill>
              </a:rPr>
              <a:t>  . (Interface 1 stays unbound - normal; RTL-SDR uses Interface 0 only)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510528"/>
            <a:ext cx="7772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999999"/>
                </a:solidFill>
              </a:rPr>
              <a:t>Radio Meteor Tracker  ·  Code &amp; Versions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0" y="6510528"/>
            <a:ext cx="35661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999999"/>
                </a:solidFill>
              </a:rPr>
              <a:t>code v1.5  ·  2026-07-13  ·  4/18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77B4"/>
                </a:solidFill>
              </a:rPr>
              <a:t>Inputs: Software stack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234440"/>
            <a:ext cx="11064240" cy="38100"/>
          </a:xfrm>
          <a:prstGeom prst="rect">
            <a:avLst/>
          </a:prstGeom>
          <a:solidFill>
            <a:srgbClr val="1F77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554480"/>
            <a:ext cx="1106424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800">
                <a:solidFill>
                  <a:srgbClr val="222222"/>
                </a:solidFill>
              </a:rPr>
              <a:t>- Python 3.14 (64-bit)</a:t>
            </a:r>
          </a:p>
          <a:p>
            <a:pPr>
              <a:spcAft>
                <a:spcPts val="500"/>
              </a:spcAft>
            </a:pPr>
            <a:r>
              <a:rPr sz="1800">
                <a:solidFill>
                  <a:srgbClr val="222222"/>
                </a:solidFill>
              </a:rPr>
              <a:t>- pyrtlsdr 0.4.0 -&gt; librtlsdr (rtl-sdr-blog v1.3.6 DLLs, bundled)</a:t>
            </a:r>
          </a:p>
          <a:p>
            <a:pPr lvl="1">
              <a:spcAft>
                <a:spcPts val="500"/>
              </a:spcAft>
            </a:pPr>
            <a:r>
              <a:rPr sz="1600">
                <a:solidFill>
                  <a:srgbClr val="555555"/>
                </a:solidFill>
              </a:rPr>
              <a:t>  . Patched to bind a few optional functions as no-ops (DLL lacks them)</a:t>
            </a:r>
          </a:p>
          <a:p>
            <a:pPr>
              <a:spcAft>
                <a:spcPts val="500"/>
              </a:spcAft>
            </a:pPr>
            <a:r>
              <a:rPr sz="1800">
                <a:solidFill>
                  <a:srgbClr val="222222"/>
                </a:solidFill>
              </a:rPr>
              <a:t>- numpy - FFT / band-power / detection math</a:t>
            </a:r>
          </a:p>
          <a:p>
            <a:pPr>
              <a:spcAft>
                <a:spcPts val="500"/>
              </a:spcAft>
            </a:pPr>
            <a:r>
              <a:rPr sz="1800">
                <a:solidFill>
                  <a:srgbClr val="222222"/>
                </a:solidFill>
              </a:rPr>
              <a:t>- matplotlib - spectrogram &amp; waterfall rendering (Agg for files, TkAgg live)</a:t>
            </a:r>
          </a:p>
          <a:p>
            <a:pPr>
              <a:spcAft>
                <a:spcPts val="500"/>
              </a:spcAft>
            </a:pPr>
            <a:r>
              <a:rPr sz="1800">
                <a:solidFill>
                  <a:srgbClr val="222222"/>
                </a:solidFill>
              </a:rPr>
              <a:t>- python-pptx - this deck</a:t>
            </a:r>
          </a:p>
          <a:p>
            <a:pPr>
              <a:spcAft>
                <a:spcPts val="500"/>
              </a:spcAft>
            </a:pPr>
            <a:r>
              <a:rPr sz="1800">
                <a:solidFill>
                  <a:srgbClr val="222222"/>
                </a:solidFill>
              </a:rPr>
              <a:t>- rtl_sdr_env.py registers the bundled DLL folder so no PATH edits are needed.</a:t>
            </a:r>
          </a:p>
          <a:p>
            <a:pPr>
              <a:spcAft>
                <a:spcPts val="500"/>
              </a:spcAft>
            </a:pPr>
            <a:r>
              <a:rPr sz="1800">
                <a:solidFill>
                  <a:srgbClr val="222222"/>
                </a:solidFill>
              </a:rPr>
              <a:t>- Config-driven: all parameters live in config.py (frozen dataclass).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510528"/>
            <a:ext cx="7772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999999"/>
                </a:solidFill>
              </a:rPr>
              <a:t>Radio Meteor Tracker  ·  Code &amp; Versions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0" y="6510528"/>
            <a:ext cx="35661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999999"/>
                </a:solidFill>
              </a:rPr>
              <a:t>code v1.5  ·  2026-07-13  ·  5/18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77B4"/>
                </a:solidFill>
              </a:rPr>
              <a:t>How the detector works (pipeline)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234440"/>
            <a:ext cx="11064240" cy="38100"/>
          </a:xfrm>
          <a:prstGeom prst="rect">
            <a:avLst/>
          </a:prstGeom>
          <a:solidFill>
            <a:srgbClr val="1F77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554480"/>
            <a:ext cx="1106424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800">
                <a:solidFill>
                  <a:srgbClr val="222222"/>
                </a:solidFill>
              </a:rPr>
              <a:t>- 1. Tune 250 kHz below 104.3 -&gt; whole 180 kHz channel sits at +250 kHz,</a:t>
            </a:r>
          </a:p>
          <a:p>
            <a:pPr lvl="1">
              <a:spcAft>
                <a:spcPts val="500"/>
              </a:spcAft>
            </a:pPr>
            <a:r>
              <a:rPr sz="1600">
                <a:solidFill>
                  <a:srgbClr val="555555"/>
                </a:solidFill>
              </a:rPr>
              <a:t>  . clear of the RTL-SDR DC spike.</a:t>
            </a:r>
          </a:p>
          <a:p>
            <a:pPr>
              <a:spcAft>
                <a:spcPts val="500"/>
              </a:spcAft>
            </a:pPr>
            <a:r>
              <a:rPr sz="1800">
                <a:solidFill>
                  <a:srgbClr val="222222"/>
                </a:solidFill>
              </a:rPr>
              <a:t>- 2. Read IQ continuously at 1.024 Msps; FFT each ~4 ms block.</a:t>
            </a:r>
          </a:p>
          <a:p>
            <a:pPr>
              <a:spcAft>
                <a:spcPts val="500"/>
              </a:spcAft>
            </a:pPr>
            <a:r>
              <a:rPr sz="1800">
                <a:solidFill>
                  <a:srgbClr val="222222"/>
                </a:solidFill>
              </a:rPr>
              <a:t>- 3. Channel power = sum of FFT power in the +-90 kHz detection band.</a:t>
            </a:r>
          </a:p>
          <a:p>
            <a:pPr>
              <a:spcAft>
                <a:spcPts val="500"/>
              </a:spcAft>
            </a:pPr>
            <a:r>
              <a:rPr sz="1800">
                <a:solidFill>
                  <a:srgbClr val="222222"/>
                </a:solidFill>
              </a:rPr>
              <a:t>- 4. Baseline = slow EMA of channel power while quiet (the noise floor).</a:t>
            </a:r>
          </a:p>
          <a:p>
            <a:pPr>
              <a:spcAft>
                <a:spcPts val="500"/>
              </a:spcAft>
            </a:pPr>
            <a:r>
              <a:rPr sz="1800">
                <a:solidFill>
                  <a:srgbClr val="222222"/>
                </a:solidFill>
              </a:rPr>
              <a:t>- 5. Ping = power rises &gt;= threshold above baseline; ends via hysteresis.</a:t>
            </a:r>
          </a:p>
          <a:p>
            <a:pPr lvl="1">
              <a:spcAft>
                <a:spcPts val="500"/>
              </a:spcAft>
            </a:pPr>
            <a:r>
              <a:rPr sz="1600">
                <a:solidFill>
                  <a:srgbClr val="555555"/>
                </a:solidFill>
              </a:rPr>
              <a:t>  . Keep only min_ping_ms .. max_ping_ms duration events.</a:t>
            </a:r>
          </a:p>
          <a:p>
            <a:pPr>
              <a:spcAft>
                <a:spcPts val="500"/>
              </a:spcAft>
            </a:pPr>
            <a:r>
              <a:rPr sz="1800">
                <a:solidFill>
                  <a:srgbClr val="222222"/>
                </a:solidFill>
              </a:rPr>
              <a:t>- 6. Log to CSV; (v1.1) save a high-resolution snapshot of the moment.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510528"/>
            <a:ext cx="7772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999999"/>
                </a:solidFill>
              </a:rPr>
              <a:t>Radio Meteor Tracker  ·  Code &amp; Versions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0" y="6510528"/>
            <a:ext cx="35661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999999"/>
                </a:solidFill>
              </a:rPr>
              <a:t>code v1.5  ·  2026-07-13  ·  6/18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77B4"/>
                </a:solidFill>
              </a:rPr>
              <a:t>Key assumptions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234440"/>
            <a:ext cx="11064240" cy="38100"/>
          </a:xfrm>
          <a:prstGeom prst="rect">
            <a:avLst/>
          </a:prstGeom>
          <a:solidFill>
            <a:srgbClr val="1F77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554480"/>
            <a:ext cx="1106424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800">
                <a:solidFill>
                  <a:srgbClr val="222222"/>
                </a:solidFill>
              </a:rPr>
              <a:t>- 104.3 stays locally vacant (no new Seattle station appears on-channel).</a:t>
            </a:r>
          </a:p>
          <a:p>
            <a:pPr>
              <a:spcAft>
                <a:spcPts val="500"/>
              </a:spcAft>
            </a:pPr>
            <a:r>
              <a:rPr sz="1800">
                <a:solidFill>
                  <a:srgbClr val="222222"/>
                </a:solidFill>
              </a:rPr>
              <a:t>- A distant 104.3 carrier (Boise/SLC) is present and stable to reflect.</a:t>
            </a:r>
          </a:p>
          <a:p>
            <a:pPr>
              <a:spcAft>
                <a:spcPts val="500"/>
              </a:spcAft>
            </a:pPr>
            <a:r>
              <a:rPr sz="1800">
                <a:solidFill>
                  <a:srgbClr val="222222"/>
                </a:solidFill>
              </a:rPr>
              <a:t>- Meteor pings are brief (tens of ms to ~1 s) and localized to the channel.</a:t>
            </a:r>
          </a:p>
          <a:p>
            <a:pPr>
              <a:spcAft>
                <a:spcPts val="500"/>
              </a:spcAft>
            </a:pPr>
            <a:r>
              <a:rPr sz="1800">
                <a:solidFill>
                  <a:srgbClr val="222222"/>
                </a:solidFill>
              </a:rPr>
              <a:t>- Events &gt; 2 s are NOT meteors (aircraft scatter, tropo, sporadic-E) -&gt; rejected.</a:t>
            </a:r>
          </a:p>
          <a:p>
            <a:pPr>
              <a:spcAft>
                <a:spcPts val="500"/>
              </a:spcAft>
            </a:pPr>
            <a:r>
              <a:rPr sz="1800">
                <a:solidFill>
                  <a:srgbClr val="222222"/>
                </a:solidFill>
              </a:rPr>
              <a:t>- Fixed gain gives a stable baseline; AGC does not (see next slide).</a:t>
            </a:r>
          </a:p>
          <a:p>
            <a:pPr>
              <a:spcAft>
                <a:spcPts val="500"/>
              </a:spcAft>
            </a:pPr>
            <a:r>
              <a:rPr sz="1800">
                <a:solidFill>
                  <a:srgbClr val="222222"/>
                </a:solidFill>
              </a:rPr>
              <a:t>- The host keeps up with 1.024 Msps USB streaming without dropping samples.</a:t>
            </a:r>
          </a:p>
          <a:p>
            <a:pPr>
              <a:spcAft>
                <a:spcPts val="500"/>
              </a:spcAft>
            </a:pPr>
            <a:r>
              <a:rPr sz="1800">
                <a:solidFill>
                  <a:srgbClr val="222222"/>
                </a:solidFill>
              </a:rPr>
              <a:t>- Single process owns the dongle at a time.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510528"/>
            <a:ext cx="7772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999999"/>
                </a:solidFill>
              </a:rPr>
              <a:t>Radio Meteor Tracker  ·  Code &amp; Versions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0" y="6510528"/>
            <a:ext cx="35661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999999"/>
                </a:solidFill>
              </a:rPr>
              <a:t>code v1.5  ·  2026-07-13  ·  7/18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77B4"/>
                </a:solidFill>
              </a:rPr>
              <a:t>Bring-up lesson: fixed gain, not AGC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234440"/>
            <a:ext cx="11064240" cy="38100"/>
          </a:xfrm>
          <a:prstGeom prst="rect">
            <a:avLst/>
          </a:prstGeom>
          <a:solidFill>
            <a:srgbClr val="1F77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554480"/>
            <a:ext cx="54864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600">
                <a:solidFill>
                  <a:srgbClr val="222222"/>
                </a:solidFill>
              </a:rPr>
              <a:t>- First 10-min run used gain='auto'. The AGC hunted:</a:t>
            </a:r>
          </a:p>
          <a:p>
            <a:pPr lvl="1">
              <a:spcAft>
                <a:spcPts val="500"/>
              </a:spcAft>
            </a:pPr>
            <a:r>
              <a:rPr sz="1400">
                <a:solidFill>
                  <a:srgbClr val="555555"/>
                </a:solidFill>
              </a:rPr>
              <a:t>  . startup ramp, mid-run band-wide dips, erratic tail.</a:t>
            </a:r>
          </a:p>
          <a:p>
            <a:pPr lvl="1">
              <a:spcAft>
                <a:spcPts val="500"/>
              </a:spcAft>
            </a:pPr>
            <a:r>
              <a:rPr sz="1400">
                <a:solidFill>
                  <a:srgbClr val="555555"/>
                </a:solidFill>
              </a:rPr>
              <a:t>  . 6 'pings' logged - all AGC artifacts, 0 real.</a:t>
            </a:r>
          </a:p>
          <a:p>
            <a:pPr>
              <a:spcAft>
                <a:spcPts val="500"/>
              </a:spcAft>
            </a:pPr>
            <a:r>
              <a:rPr sz="1600">
                <a:solidFill>
                  <a:srgbClr val="222222"/>
                </a:solidFill>
              </a:rPr>
              <a:t>- Fixes folded into the baseline config:</a:t>
            </a:r>
          </a:p>
          <a:p>
            <a:pPr lvl="1">
              <a:spcAft>
                <a:spcPts val="500"/>
              </a:spcAft>
            </a:pPr>
            <a:r>
              <a:rPr sz="1400">
                <a:solidFill>
                  <a:srgbClr val="555555"/>
                </a:solidFill>
              </a:rPr>
              <a:t>  . FIXED gain 40.2 dB (stable baseline ~0.7 dB sigma)</a:t>
            </a:r>
          </a:p>
          <a:p>
            <a:pPr lvl="1">
              <a:spcAft>
                <a:spcPts val="500"/>
              </a:spcAft>
            </a:pPr>
            <a:r>
              <a:rPr sz="1400">
                <a:solidFill>
                  <a:srgbClr val="555555"/>
                </a:solidFill>
              </a:rPr>
              <a:t>  . warmup_skip_s = 20 s (ignore settling)</a:t>
            </a:r>
          </a:p>
          <a:p>
            <a:pPr lvl="1">
              <a:spcAft>
                <a:spcPts val="500"/>
              </a:spcAft>
            </a:pPr>
            <a:r>
              <a:rPr sz="1400">
                <a:solidFill>
                  <a:srgbClr val="555555"/>
                </a:solidFill>
              </a:rPr>
              <a:t>  . max_ping_ms = 2000 (reject aircraft/tropo)</a:t>
            </a:r>
          </a:p>
          <a:p>
            <a:pPr lvl="1">
              <a:spcAft>
                <a:spcPts val="500"/>
              </a:spcAft>
            </a:pPr>
            <a:r>
              <a:rPr sz="1400">
                <a:solidFill>
                  <a:srgbClr val="555555"/>
                </a:solidFill>
              </a:rPr>
              <a:t>  . threshold 6 -&gt; 4 dB (still ~6 sigma)</a:t>
            </a:r>
          </a:p>
          <a:p>
            <a:pPr>
              <a:spcAft>
                <a:spcPts val="500"/>
              </a:spcAft>
            </a:pPr>
            <a:r>
              <a:rPr sz="1600">
                <a:solidFill>
                  <a:srgbClr val="222222"/>
                </a:solidFill>
              </a:rPr>
              <a:t>- Re-run baseline is flat (see plot) -&gt; trustworthy detection.</a:t>
            </a:r>
          </a:p>
        </p:txBody>
      </p:sp>
      <p:pic>
        <p:nvPicPr>
          <p:cNvPr id="5" name="Picture 4" descr="monitor_pow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9360" y="1645920"/>
            <a:ext cx="5486400" cy="1995055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65760" y="6510528"/>
            <a:ext cx="7772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999999"/>
                </a:solidFill>
              </a:rPr>
              <a:t>Radio Meteor Tracker  ·  Code &amp; Versions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0" y="6510528"/>
            <a:ext cx="35661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999999"/>
                </a:solidFill>
              </a:rPr>
              <a:t>code v1.5  ·  2026-07-13  ·  8/18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77B4"/>
                </a:solidFill>
              </a:rPr>
              <a:t>Proof: real RF off the antenna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234440"/>
            <a:ext cx="11064240" cy="38100"/>
          </a:xfrm>
          <a:prstGeom prst="rect">
            <a:avLst/>
          </a:prstGeom>
          <a:solidFill>
            <a:srgbClr val="1F77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554480"/>
            <a:ext cx="54864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600">
                <a:solidFill>
                  <a:srgbClr val="222222"/>
                </a:solidFill>
              </a:rPr>
              <a:t>- Spectrograph of live FM capture confirms the full chain works:</a:t>
            </a:r>
          </a:p>
          <a:p>
            <a:pPr lvl="1">
              <a:spcAft>
                <a:spcPts val="500"/>
              </a:spcAft>
            </a:pPr>
            <a:r>
              <a:rPr sz="1400">
                <a:solidFill>
                  <a:srgbClr val="555555"/>
                </a:solidFill>
              </a:rPr>
              <a:t>  . antenna -&gt; dongle -&gt; WinUSB -&gt; Python -&gt; image.</a:t>
            </a:r>
          </a:p>
          <a:p>
            <a:pPr>
              <a:spcAft>
                <a:spcPts val="500"/>
              </a:spcAft>
            </a:pPr>
            <a:r>
              <a:rPr sz="1600">
                <a:solidFill>
                  <a:srgbClr val="222222"/>
                </a:solidFill>
              </a:rPr>
              <a:t>- Bright vertical bands = local FM stations at exact channel freqs.</a:t>
            </a:r>
          </a:p>
          <a:p>
            <a:pPr>
              <a:spcAft>
                <a:spcPts val="500"/>
              </a:spcAft>
            </a:pPr>
            <a:r>
              <a:rPr sz="1600">
                <a:solidFill>
                  <a:srgbClr val="222222"/>
                </a:solidFill>
              </a:rPr>
              <a:t>- Flickering texture = live audio modulation (proves it is real signal,</a:t>
            </a:r>
          </a:p>
          <a:p>
            <a:pPr lvl="1">
              <a:spcAft>
                <a:spcPts val="500"/>
              </a:spcAft>
            </a:pPr>
            <a:r>
              <a:rPr sz="1400">
                <a:solidFill>
                  <a:srgbClr val="555555"/>
                </a:solidFill>
              </a:rPr>
              <a:t>  . not an artifact).</a:t>
            </a:r>
          </a:p>
          <a:p>
            <a:pPr>
              <a:spcAft>
                <a:spcPts val="500"/>
              </a:spcAft>
            </a:pPr>
            <a:r>
              <a:rPr sz="1600">
                <a:solidFill>
                  <a:srgbClr val="222222"/>
                </a:solidFill>
              </a:rPr>
              <a:t>- The vacancy scan then found 104.3 clear for meteor scatter.</a:t>
            </a:r>
          </a:p>
        </p:txBody>
      </p:sp>
      <p:pic>
        <p:nvPicPr>
          <p:cNvPr id="5" name="Picture 4" descr="spectrograp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9360" y="1645920"/>
            <a:ext cx="5486400" cy="38404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65760" y="6510528"/>
            <a:ext cx="7772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999999"/>
                </a:solidFill>
              </a:rPr>
              <a:t>Radio Meteor Tracker  ·  Code &amp; Versions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0" y="6510528"/>
            <a:ext cx="35661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999999"/>
                </a:solidFill>
              </a:rPr>
              <a:t>code v1.5  ·  2026-07-13  ·  9/18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77B4"/>
                </a:solidFill>
              </a:rPr>
              <a:t>v1.1: Trigger snapshots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234440"/>
            <a:ext cx="11064240" cy="38100"/>
          </a:xfrm>
          <a:prstGeom prst="rect">
            <a:avLst/>
          </a:prstGeom>
          <a:solidFill>
            <a:srgbClr val="1F77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554480"/>
            <a:ext cx="1106424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800">
                <a:solidFill>
                  <a:srgbClr val="222222"/>
                </a:solidFill>
              </a:rPr>
              <a:t>- Problem: a ping COUNT cannot tell meteor from aircraft or interference.</a:t>
            </a:r>
          </a:p>
          <a:p>
            <a:pPr>
              <a:spcAft>
                <a:spcPts val="500"/>
              </a:spcAft>
            </a:pPr>
            <a:r>
              <a:rPr sz="1800">
                <a:solidFill>
                  <a:srgbClr val="222222"/>
                </a:solidFill>
              </a:rPr>
              <a:t>- Solution: keep a rolling IQ buffer; on each ping, render a zoomed</a:t>
            </a:r>
          </a:p>
          <a:p>
            <a:pPr lvl="1">
              <a:spcAft>
                <a:spcPts val="500"/>
              </a:spcAft>
            </a:pPr>
            <a:r>
              <a:rPr sz="1600">
                <a:solidFill>
                  <a:srgbClr val="555555"/>
                </a:solidFill>
              </a:rPr>
              <a:t>  . spectrogram (pre-roll + event + post-roll) marked with the channel.</a:t>
            </a:r>
          </a:p>
          <a:p>
            <a:pPr>
              <a:spcAft>
                <a:spcPts val="500"/>
              </a:spcAft>
            </a:pPr>
            <a:r>
              <a:rPr sz="1800">
                <a:solidFill>
                  <a:srgbClr val="222222"/>
                </a:solidFill>
              </a:rPr>
              <a:t>- New: snapshot.py (IQRingBuffer + save_snapshot).</a:t>
            </a:r>
          </a:p>
          <a:p>
            <a:pPr>
              <a:spcAft>
                <a:spcPts val="500"/>
              </a:spcAft>
            </a:pPr>
            <a:r>
              <a:rPr sz="1800">
                <a:solidFill>
                  <a:srgbClr val="222222"/>
                </a:solidFill>
              </a:rPr>
              <a:t>- Changed: Ping carries sample indices; detector records them; main() saves</a:t>
            </a:r>
          </a:p>
          <a:p>
            <a:pPr lvl="1">
              <a:spcAft>
                <a:spcPts val="500"/>
              </a:spcAft>
            </a:pPr>
            <a:r>
              <a:rPr sz="1600">
                <a:solidFill>
                  <a:srgbClr val="555555"/>
                </a:solidFill>
              </a:rPr>
              <a:t>  . a PNG per ping under snapshots/. Snapshot errors never stop capture.</a:t>
            </a:r>
          </a:p>
          <a:p>
            <a:pPr>
              <a:spcAft>
                <a:spcPts val="500"/>
              </a:spcAft>
            </a:pPr>
            <a:r>
              <a:rPr sz="1800">
                <a:solidFill>
                  <a:srgbClr val="222222"/>
                </a:solidFill>
              </a:rPr>
              <a:t>- Reading a snapshot:</a:t>
            </a:r>
          </a:p>
          <a:p>
            <a:pPr lvl="1">
              <a:spcAft>
                <a:spcPts val="500"/>
              </a:spcAft>
            </a:pPr>
            <a:r>
              <a:rPr sz="1600">
                <a:solidFill>
                  <a:srgbClr val="555555"/>
                </a:solidFill>
              </a:rPr>
              <a:t>  . Meteor -&gt; brief streak LOCALIZED at 104.3 (maybe a Doppler tail)</a:t>
            </a:r>
          </a:p>
          <a:p>
            <a:pPr lvl="1">
              <a:spcAft>
                <a:spcPts val="500"/>
              </a:spcAft>
            </a:pPr>
            <a:r>
              <a:rPr sz="1600">
                <a:solidFill>
                  <a:srgbClr val="555555"/>
                </a:solidFill>
              </a:rPr>
              <a:t>  . Aircraft -&gt; a carrier line SWEEPING in frequency over seconds</a:t>
            </a:r>
          </a:p>
          <a:p>
            <a:pPr lvl="1">
              <a:spcAft>
                <a:spcPts val="500"/>
              </a:spcAft>
            </a:pPr>
            <a:r>
              <a:rPr sz="1600">
                <a:solidFill>
                  <a:srgbClr val="555555"/>
                </a:solidFill>
              </a:rPr>
              <a:t>  . Interference -&gt; broadband smear across the whole window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510528"/>
            <a:ext cx="7772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999999"/>
                </a:solidFill>
              </a:rPr>
              <a:t>Radio Meteor Tracker  ·  Code &amp; Versions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0" y="6510528"/>
            <a:ext cx="35661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999999"/>
                </a:solidFill>
              </a:rPr>
              <a:t>code v1.5  ·  2026-07-13  ·  10/18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77B4"/>
                </a:solidFill>
              </a:rPr>
              <a:t>v1.2: GUI, classification &amp; reporting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234440"/>
            <a:ext cx="11064240" cy="38100"/>
          </a:xfrm>
          <a:prstGeom prst="rect">
            <a:avLst/>
          </a:prstGeom>
          <a:solidFill>
            <a:srgbClr val="1F77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554480"/>
            <a:ext cx="54864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600">
                <a:solidFill>
                  <a:srgbClr val="222222"/>
                </a:solidFill>
              </a:rPr>
              <a:t>- Threaded capture engine (capture_engine.py) keeps the UI responsive.</a:t>
            </a:r>
          </a:p>
          <a:p>
            <a:pPr>
              <a:spcAft>
                <a:spcPts val="500"/>
              </a:spcAft>
            </a:pPr>
            <a:r>
              <a:rPr sz="1600">
                <a:solidFill>
                  <a:srgbClr val="222222"/>
                </a:solidFill>
              </a:rPr>
              <a:t>- Tkinter GUI (gui_app.py): live waterfall, Start/Stop, live freq/gain/</a:t>
            </a:r>
          </a:p>
          <a:p>
            <a:pPr lvl="1">
              <a:spcAft>
                <a:spcPts val="500"/>
              </a:spcAft>
            </a:pPr>
            <a:r>
              <a:rPr sz="1400">
                <a:solidFill>
                  <a:srgbClr val="555555"/>
                </a:solidFill>
              </a:rPr>
              <a:t>  . threshold, ping counter, per-class tally, and a snapshot GALLERY</a:t>
            </a:r>
          </a:p>
          <a:p>
            <a:pPr lvl="1">
              <a:spcAft>
                <a:spcPts val="500"/>
              </a:spcAft>
            </a:pPr>
            <a:r>
              <a:rPr sz="1400">
                <a:solidFill>
                  <a:srgbClr val="555555"/>
                </a:solidFill>
              </a:rPr>
              <a:t>  . with class-colored thumbnails (click to enlarge).</a:t>
            </a:r>
          </a:p>
          <a:p>
            <a:pPr>
              <a:spcAft>
                <a:spcPts val="500"/>
              </a:spcAft>
            </a:pPr>
            <a:r>
              <a:rPr sz="1600">
                <a:solidFill>
                  <a:srgbClr val="222222"/>
                </a:solidFill>
              </a:rPr>
              <a:t>- Auto classification (classify.py) of every ping:</a:t>
            </a:r>
          </a:p>
          <a:p>
            <a:pPr lvl="1">
              <a:spcAft>
                <a:spcPts val="500"/>
              </a:spcAft>
            </a:pPr>
            <a:r>
              <a:rPr sz="1400">
                <a:solidFill>
                  <a:srgbClr val="555555"/>
                </a:solidFill>
              </a:rPr>
              <a:t>  . meteor / aircraft / interference, from spectral concentration,</a:t>
            </a:r>
          </a:p>
          <a:p>
            <a:pPr lvl="1">
              <a:spcAft>
                <a:spcPts val="500"/>
              </a:spcAft>
            </a:pPr>
            <a:r>
              <a:rPr sz="1400">
                <a:solidFill>
                  <a:srgbClr val="555555"/>
                </a:solidFill>
              </a:rPr>
              <a:t>  . frequency drift, and duration. Written to CSV, filename &amp; GUI.</a:t>
            </a:r>
          </a:p>
          <a:p>
            <a:pPr>
              <a:spcAft>
                <a:spcPts val="500"/>
              </a:spcAft>
            </a:pPr>
            <a:r>
              <a:rPr sz="1600">
                <a:solidFill>
                  <a:srgbClr val="222222"/>
                </a:solidFill>
              </a:rPr>
              <a:t>- Session report (session_report.py): pings-per-hour stacked by class,</a:t>
            </a:r>
          </a:p>
          <a:p>
            <a:pPr lvl="1">
              <a:spcAft>
                <a:spcPts val="500"/>
              </a:spcAft>
            </a:pPr>
            <a:r>
              <a:rPr sz="1400">
                <a:solidFill>
                  <a:srgbClr val="555555"/>
                </a:solidFill>
              </a:rPr>
              <a:t>  . plus a text summary (example at right).</a:t>
            </a:r>
          </a:p>
        </p:txBody>
      </p:sp>
      <p:pic>
        <p:nvPicPr>
          <p:cNvPr id="5" name="Picture 4" descr="docs_session_repo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9360" y="1645920"/>
            <a:ext cx="5486400" cy="249381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65760" y="6510528"/>
            <a:ext cx="7772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999999"/>
                </a:solidFill>
              </a:rPr>
              <a:t>Radio Meteor Tracker  ·  Code &amp; Versions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0" y="6510528"/>
            <a:ext cx="35661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999999"/>
                </a:solidFill>
              </a:rPr>
              <a:t>code v1.5  ·  2026-07-13  ·  11/18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77B4"/>
                </a:solidFill>
              </a:rPr>
              <a:t>v1.3: Tabbed UI + surviving a long run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234440"/>
            <a:ext cx="11064240" cy="38100"/>
          </a:xfrm>
          <a:prstGeom prst="rect">
            <a:avLst/>
          </a:prstGeom>
          <a:solidFill>
            <a:srgbClr val="1F77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554480"/>
            <a:ext cx="1106424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800">
                <a:solidFill>
                  <a:srgbClr val="222222"/>
                </a:solidFill>
              </a:rPr>
              <a:t>- GUI split into a ttk.Notebook: Live tab (waterfall + side gallery) and</a:t>
            </a:r>
          </a:p>
          <a:p>
            <a:pPr lvl="1">
              <a:spcAft>
                <a:spcPts val="500"/>
              </a:spcAft>
            </a:pPr>
            <a:r>
              <a:rPr sz="1600">
                <a:solidFill>
                  <a:srgbClr val="555555"/>
                </a:solidFill>
              </a:rPr>
              <a:t>  . Gallery tab (big image viewer, Prev/Next, full event list).</a:t>
            </a:r>
          </a:p>
          <a:p>
            <a:pPr>
              <a:spcAft>
                <a:spcPts val="500"/>
              </a:spcAft>
            </a:pPr>
            <a:r>
              <a:rPr sz="1800">
                <a:solidFill>
                  <a:srgbClr val="222222"/>
                </a:solidFill>
              </a:rPr>
              <a:t>- Problem: an overnight run could not be trusted to finish.</a:t>
            </a:r>
          </a:p>
          <a:p>
            <a:pPr>
              <a:spcAft>
                <a:spcPts val="500"/>
              </a:spcAft>
            </a:pPr>
            <a:r>
              <a:rPr sz="1800">
                <a:solidFill>
                  <a:srgbClr val="222222"/>
                </a:solidFill>
              </a:rPr>
              <a:t>- Auto-reconnect (reconnect.py -&gt; ReconnectingReader): a USB/read error no longer</a:t>
            </a:r>
          </a:p>
          <a:p>
            <a:pPr lvl="1">
              <a:spcAft>
                <a:spcPts val="500"/>
              </a:spcAft>
            </a:pPr>
            <a:r>
              <a:rPr sz="1600">
                <a:solidFill>
                  <a:srgbClr val="555555"/>
                </a:solidFill>
              </a:rPr>
              <a:t>  . ends the run -- close -&gt; exponential backoff -&gt; reopen -&gt; resume.</a:t>
            </a:r>
          </a:p>
          <a:p>
            <a:pPr>
              <a:spcAft>
                <a:spcPts val="500"/>
              </a:spcAft>
            </a:pPr>
            <a:r>
              <a:rPr sz="1800">
                <a:solidFill>
                  <a:srgbClr val="222222"/>
                </a:solidFill>
              </a:rPr>
              <a:t>- Async snapshots (snapshot.py -&gt; SnapshotWorker): matplotlib rendering moved to a</a:t>
            </a:r>
          </a:p>
          <a:p>
            <a:pPr lvl="1">
              <a:spcAft>
                <a:spcPts val="500"/>
              </a:spcAft>
            </a:pPr>
            <a:r>
              <a:rPr sz="1600">
                <a:solidFill>
                  <a:srgbClr val="555555"/>
                </a:solidFill>
              </a:rPr>
              <a:t>  . background thread, so it never stalls the capture read and drops USB samples.</a:t>
            </a:r>
          </a:p>
          <a:p>
            <a:pPr lvl="1">
              <a:spcAft>
                <a:spcPts val="500"/>
              </a:spcAft>
            </a:pPr>
            <a:r>
              <a:rPr sz="1600">
                <a:solidFill>
                  <a:srgbClr val="555555"/>
                </a:solidFill>
              </a:rPr>
              <a:t>  . If the worker falls behind, extra RENDERS are dropped -- events still logged.</a:t>
            </a:r>
          </a:p>
          <a:p>
            <a:pPr>
              <a:spcAft>
                <a:spcPts val="500"/>
              </a:spcAft>
            </a:pPr>
            <a:r>
              <a:rPr sz="1800">
                <a:solidFill>
                  <a:srgbClr val="222222"/>
                </a:solidFill>
              </a:rPr>
              <a:t>- Shared by CLI, GUI and the Pi service. CLI prints a 5-minute heartbeat.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510528"/>
            <a:ext cx="7772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999999"/>
                </a:solidFill>
              </a:rPr>
              <a:t>Radio Meteor Tracker  ·  Code &amp; Versions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0" y="6510528"/>
            <a:ext cx="35661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999999"/>
                </a:solidFill>
              </a:rPr>
              <a:t>code v1.5  ·  2026-07-13  ·  12/18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77B4"/>
                </a:solidFill>
              </a:rPr>
              <a:t>v1.4: Fitting a 1 GB Raspberry Pi  (this release)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234440"/>
            <a:ext cx="11064240" cy="38100"/>
          </a:xfrm>
          <a:prstGeom prst="rect">
            <a:avLst/>
          </a:prstGeom>
          <a:solidFill>
            <a:srgbClr val="1F77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554480"/>
            <a:ext cx="1106424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800">
                <a:solidFill>
                  <a:srgbClr val="222222"/>
                </a:solidFill>
              </a:rPr>
              <a:t>- The insight: memory is dominated by SNAPSHOTS, not detection.</a:t>
            </a:r>
          </a:p>
          <a:p>
            <a:pPr lvl="1">
              <a:spcAft>
                <a:spcPts val="500"/>
              </a:spcAft>
            </a:pPr>
            <a:r>
              <a:rPr sz="1600">
                <a:solidFill>
                  <a:srgbClr val="555555"/>
                </a:solidFill>
              </a:rPr>
              <a:t>  . One second of IQ at 1.024 Msps = 8.2 MB. A queued snapshot job holds a whole</a:t>
            </a:r>
          </a:p>
          <a:p>
            <a:pPr lvl="1">
              <a:spcAft>
                <a:spcPts val="500"/>
              </a:spcAft>
            </a:pPr>
            <a:r>
              <a:rPr sz="1600">
                <a:solidFill>
                  <a:srgbClr val="555555"/>
                </a:solidFill>
              </a:rPr>
              <a:t>  . event window: ~4 MB (brief meteor) to ~25 MB (2 s event).</a:t>
            </a:r>
          </a:p>
          <a:p>
            <a:pPr lvl="1">
              <a:spcAft>
                <a:spcPts val="500"/>
              </a:spcAft>
            </a:pPr>
            <a:r>
              <a:rPr sz="1600">
                <a:solidFill>
                  <a:srgbClr val="555555"/>
                </a:solidFill>
              </a:rPr>
              <a:t>  . v1.3's 32-JOB queue bound was really a ~790 MB bound -&gt; OOM on a Pi during an</a:t>
            </a:r>
          </a:p>
          <a:p>
            <a:pPr lvl="2">
              <a:spcAft>
                <a:spcPts val="500"/>
              </a:spcAft>
            </a:pPr>
            <a:r>
              <a:rPr sz="1400">
                <a:solidFill>
                  <a:srgbClr val="555555"/>
                </a:solidFill>
              </a:rPr>
              <a:t>  . aircraft burst, which is exactly when the queue fills.</a:t>
            </a:r>
          </a:p>
          <a:p>
            <a:pPr>
              <a:spcAft>
                <a:spcPts val="500"/>
              </a:spcAft>
            </a:pPr>
            <a:r>
              <a:rPr sz="1800">
                <a:solidFill>
                  <a:srgbClr val="222222"/>
                </a:solidFill>
              </a:rPr>
              <a:t>- Fixes (all shared by CLI / GUI / Pi):</a:t>
            </a:r>
          </a:p>
          <a:p>
            <a:pPr lvl="1">
              <a:spcAft>
                <a:spcPts val="500"/>
              </a:spcAft>
            </a:pPr>
            <a:r>
              <a:rPr sz="1600">
                <a:solidFill>
                  <a:srgbClr val="555555"/>
                </a:solidFill>
              </a:rPr>
              <a:t>  . Queue bounded by BYTES. dsp.py: chunked float32 FFT (numpy upcasts to complex128,</a:t>
            </a:r>
          </a:p>
          <a:p>
            <a:pPr lvl="2">
              <a:spcAft>
                <a:spcPts val="500"/>
              </a:spcAft>
            </a:pPr>
            <a:r>
              <a:rPr sz="1400">
                <a:solidFill>
                  <a:srgbClr val="555555"/>
                </a:solidFill>
              </a:rPr>
              <a:t>  . so the old one-shot FFT spiked ~150-200 MB PER EVENT). Ring buffer is now</a:t>
            </a:r>
          </a:p>
          <a:p>
            <a:pPr lvl="2">
              <a:spcAft>
                <a:spcPts val="500"/>
              </a:spcAft>
            </a:pPr>
            <a:r>
              <a:rPr sz="1400">
                <a:solidFill>
                  <a:srgbClr val="555555"/>
                </a:solidFill>
              </a:rPr>
              <a:t>  . preallocated + circular (was re-allocating ~33 MB four times a second).</a:t>
            </a:r>
          </a:p>
          <a:p>
            <a:pPr lvl="1">
              <a:spcAft>
                <a:spcPts val="500"/>
              </a:spcAft>
            </a:pPr>
            <a:r>
              <a:rPr sz="1600">
                <a:solidFill>
                  <a:srgbClr val="555555"/>
                </a:solidFill>
              </a:rPr>
              <a:t>  . snapshot_mode = png | npz | off. On the Pi, matplotlib is never imported (~90 MB)</a:t>
            </a:r>
          </a:p>
          <a:p>
            <a:pPr lvl="2">
              <a:spcAft>
                <a:spcPts val="500"/>
              </a:spcAft>
            </a:pPr>
            <a:r>
              <a:rPr sz="1400">
                <a:solidFill>
                  <a:srgbClr val="555555"/>
                </a:solidFill>
              </a:rPr>
              <a:t>  . -- events are saved as compact .npz and rendered on a PC (render_snapshots.py).</a:t>
            </a:r>
          </a:p>
          <a:p>
            <a:pPr>
              <a:spcAft>
                <a:spcPts val="500"/>
              </a:spcAft>
            </a:pPr>
            <a:r>
              <a:rPr sz="1800">
                <a:solidFill>
                  <a:srgbClr val="2CA02C"/>
                </a:solidFill>
              </a:rPr>
              <a:t>- Measured: ~104 MB peak RSS on the 'pi' profile vs ~450-490 MB on the defaults.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510528"/>
            <a:ext cx="7772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999999"/>
                </a:solidFill>
              </a:rPr>
              <a:t>Radio Meteor Tracker  ·  Code &amp; Versions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0" y="6510528"/>
            <a:ext cx="35661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999999"/>
                </a:solidFill>
              </a:rPr>
              <a:t>code v1.5  ·  2026-07-13  ·  13/18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77B4"/>
                </a:solidFill>
              </a:rPr>
              <a:t>v1.5: Measuring exposure  (this release)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234440"/>
            <a:ext cx="11064240" cy="38100"/>
          </a:xfrm>
          <a:prstGeom prst="rect">
            <a:avLst/>
          </a:prstGeom>
          <a:solidFill>
            <a:srgbClr val="1F77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554480"/>
            <a:ext cx="1106424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800">
                <a:solidFill>
                  <a:srgbClr val="222222"/>
                </a:solidFill>
              </a:rPr>
              <a:t>- Every rate is counts / EXPOSURE -- so exposure has to be MEASURED.</a:t>
            </a:r>
          </a:p>
          <a:p>
            <a:pPr>
              <a:spcAft>
                <a:spcPts val="500"/>
              </a:spcAft>
            </a:pPr>
            <a:r>
              <a:rPr sz="1800">
                <a:solidFill>
                  <a:srgbClr val="C0392B"/>
                </a:solidFill>
              </a:rPr>
              <a:t>- The trap it removes:</a:t>
            </a:r>
          </a:p>
          <a:p>
            <a:pPr lvl="1">
              <a:spcAft>
                <a:spcPts val="500"/>
              </a:spcAft>
            </a:pPr>
            <a:r>
              <a:rPr sz="1600">
                <a:solidFill>
                  <a:srgbClr val="C0392B"/>
                </a:solidFill>
              </a:rPr>
              <a:t>  . diurnal.py used to INFER exposure from the span of logged events</a:t>
            </a:r>
          </a:p>
          <a:p>
            <a:pPr lvl="2">
              <a:spcAft>
                <a:spcPts val="500"/>
              </a:spcAft>
            </a:pPr>
            <a:r>
              <a:rPr sz="1400">
                <a:solidFill>
                  <a:srgbClr val="555555"/>
                </a:solidFill>
              </a:rPr>
              <a:t>  . ('the receiver was on whenever anything was logged').</a:t>
            </a:r>
          </a:p>
          <a:p>
            <a:pPr lvl="1">
              <a:spcAft>
                <a:spcPts val="500"/>
              </a:spcAft>
            </a:pPr>
            <a:r>
              <a:rPr sz="1600">
                <a:solidFill>
                  <a:srgbClr val="C0392B"/>
                </a:solidFill>
              </a:rPr>
              <a:t>  . Observe only 22:00-06:00 for a week and that span covers the daytime</a:t>
            </a:r>
          </a:p>
          <a:p>
            <a:pPr lvl="2">
              <a:spcAft>
                <a:spcPts val="500"/>
              </a:spcAft>
            </a:pPr>
            <a:r>
              <a:rPr sz="1400">
                <a:solidFill>
                  <a:srgbClr val="555555"/>
                </a:solidFill>
              </a:rPr>
              <a:t>  . hours you never watched -- so they look observed-but-empty, their rate</a:t>
            </a:r>
          </a:p>
          <a:p>
            <a:pPr lvl="2">
              <a:spcAft>
                <a:spcPts val="500"/>
              </a:spcAft>
            </a:pPr>
            <a:r>
              <a:rPr sz="1400">
                <a:solidFill>
                  <a:srgbClr val="555555"/>
                </a:solidFill>
              </a:rPr>
              <a:t>  . collapses, and you get a textbook diurnal curve (peak ~06h, trough ~18h)</a:t>
            </a:r>
          </a:p>
          <a:p>
            <a:pPr lvl="2">
              <a:spcAft>
                <a:spcPts val="500"/>
              </a:spcAft>
            </a:pPr>
            <a:r>
              <a:rPr sz="1400">
                <a:solidFill>
                  <a:srgbClr val="555555"/>
                </a:solidFill>
              </a:rPr>
              <a:t>  . manufactured entirely by your own schedule. It looks like SUCCESS.</a:t>
            </a:r>
          </a:p>
          <a:p>
            <a:pPr>
              <a:spcAft>
                <a:spcPts val="500"/>
              </a:spcAft>
            </a:pPr>
            <a:r>
              <a:rPr sz="1800">
                <a:solidFill>
                  <a:srgbClr val="2CA02C"/>
                </a:solidFill>
              </a:rPr>
              <a:t>- The fix: uptime.py writes sessions.csv (append-only on/beat/off).</a:t>
            </a:r>
          </a:p>
          <a:p>
            <a:pPr lvl="1">
              <a:spcAft>
                <a:spcPts val="500"/>
              </a:spcAft>
            </a:pPr>
            <a:r>
              <a:rPr sz="1600">
                <a:solidFill>
                  <a:srgbClr val="2CA02C"/>
                </a:solidFill>
              </a:rPr>
              <a:t>  . Exposure EXCLUDES warm-up and USB reconnect gaps.</a:t>
            </a:r>
          </a:p>
          <a:p>
            <a:pPr lvl="1">
              <a:spcAft>
                <a:spcPts val="500"/>
              </a:spcAft>
            </a:pPr>
            <a:r>
              <a:rPr sz="1600">
                <a:solidFill>
                  <a:srgbClr val="2CA02C"/>
                </a:solidFill>
              </a:rPr>
              <a:t>  . A crash costs one beat interval (60 s), not the session -- and never</a:t>
            </a:r>
          </a:p>
          <a:p>
            <a:pPr lvl="2">
              <a:spcAft>
                <a:spcPts val="500"/>
              </a:spcAft>
            </a:pPr>
            <a:r>
              <a:rPr sz="1400">
                <a:solidFill>
                  <a:srgbClr val="2CA02C"/>
                </a:solidFill>
              </a:rPr>
              <a:t>  . counts the dead hours as observed.</a:t>
            </a:r>
          </a:p>
          <a:p>
            <a:pPr lvl="1">
              <a:spcAft>
                <a:spcPts val="500"/>
              </a:spcAft>
            </a:pPr>
            <a:r>
              <a:rPr sz="1600">
                <a:solidFill>
                  <a:srgbClr val="2CA02C"/>
                </a:solidFill>
              </a:rPr>
              <a:t>  . diurnal.py integrates it; with no log it still runs but stamps the plot</a:t>
            </a:r>
          </a:p>
          <a:p>
            <a:pPr lvl="2">
              <a:spcAft>
                <a:spcPts val="500"/>
              </a:spcAft>
            </a:pPr>
            <a:r>
              <a:rPr sz="1400">
                <a:solidFill>
                  <a:srgbClr val="2CA02C"/>
                </a:solidFill>
              </a:rPr>
              <a:t>  . 'EXPOSURE GUESSED' so a bad curve cannot travel quietly.</a:t>
            </a:r>
          </a:p>
          <a:p>
            <a:pPr>
              <a:spcAft>
                <a:spcPts val="500"/>
              </a:spcAft>
            </a:pPr>
            <a:r>
              <a:rPr sz="1800">
                <a:solidFill>
                  <a:srgbClr val="2CA02C"/>
                </a:solidFill>
              </a:rPr>
              <a:t>- Verified: with a FLAT synthetic rate, the old method invents the curve;</a:t>
            </a:r>
          </a:p>
          <a:p>
            <a:pPr lvl="1">
              <a:spcAft>
                <a:spcPts val="500"/>
              </a:spcAft>
            </a:pPr>
            <a:r>
              <a:rPr sz="1600">
                <a:solidFill>
                  <a:srgbClr val="2CA02C"/>
                </a:solidFill>
              </a:rPr>
              <a:t>  . the new one recovers flat and leaves unobserved hours BLANK.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510528"/>
            <a:ext cx="7772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999999"/>
                </a:solidFill>
              </a:rPr>
              <a:t>Radio Meteor Tracker  ·  Code &amp; Versions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0" y="6510528"/>
            <a:ext cx="35661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999999"/>
                </a:solidFill>
              </a:rPr>
              <a:t>code v1.5  ·  2026-07-13  ·  14/18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77B4"/>
                </a:solidFill>
              </a:rPr>
              <a:t>Version roadmap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234440"/>
            <a:ext cx="11064240" cy="38100"/>
          </a:xfrm>
          <a:prstGeom prst="rect">
            <a:avLst/>
          </a:prstGeom>
          <a:solidFill>
            <a:srgbClr val="1F77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554480"/>
            <a:ext cx="1106424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800">
                <a:solidFill>
                  <a:srgbClr val="222222"/>
                </a:solidFill>
              </a:rPr>
              <a:t>- v1.0 - Baseline detector</a:t>
            </a:r>
          </a:p>
          <a:p>
            <a:pPr lvl="1">
              <a:spcAft>
                <a:spcPts val="500"/>
              </a:spcAft>
            </a:pPr>
            <a:r>
              <a:rPr sz="1600">
                <a:solidFill>
                  <a:srgbClr val="555555"/>
                </a:solidFill>
              </a:rPr>
              <a:t>  . Band-power + EMA baseline + threshold/hysteresis -&gt; CSV log &amp; count.</a:t>
            </a:r>
          </a:p>
          <a:p>
            <a:pPr lvl="1">
              <a:spcAft>
                <a:spcPts val="500"/>
              </a:spcAft>
            </a:pPr>
            <a:r>
              <a:rPr sz="1600">
                <a:solidFill>
                  <a:srgbClr val="555555"/>
                </a:solidFill>
              </a:rPr>
              <a:t>  . Hardened: fixed gain, warm-up skip, duration bounds.</a:t>
            </a:r>
          </a:p>
          <a:p>
            <a:pPr>
              <a:spcAft>
                <a:spcPts val="500"/>
              </a:spcAft>
            </a:pPr>
            <a:r>
              <a:rPr sz="1800">
                <a:solidFill>
                  <a:srgbClr val="222222"/>
                </a:solidFill>
              </a:rPr>
              <a:t>- v1.1 - Trigger snapshots</a:t>
            </a:r>
          </a:p>
          <a:p>
            <a:pPr lvl="1">
              <a:spcAft>
                <a:spcPts val="500"/>
              </a:spcAft>
            </a:pPr>
            <a:r>
              <a:rPr sz="1600">
                <a:solidFill>
                  <a:srgbClr val="555555"/>
                </a:solidFill>
              </a:rPr>
              <a:t>  . Rolling IQ buffer; per-ping high-res spectrogram.</a:t>
            </a:r>
          </a:p>
          <a:p>
            <a:pPr>
              <a:spcAft>
                <a:spcPts val="500"/>
              </a:spcAft>
            </a:pPr>
            <a:r>
              <a:rPr sz="1800">
                <a:solidFill>
                  <a:srgbClr val="222222"/>
                </a:solidFill>
              </a:rPr>
              <a:t>- v1.2 - GUI, classification &amp; reporting</a:t>
            </a:r>
          </a:p>
          <a:p>
            <a:pPr lvl="1">
              <a:spcAft>
                <a:spcPts val="500"/>
              </a:spcAft>
            </a:pPr>
            <a:r>
              <a:rPr sz="1600">
                <a:solidFill>
                  <a:srgbClr val="555555"/>
                </a:solidFill>
              </a:rPr>
              <a:t>  . Threaded engine; live waterfall + counter + snapshot gallery.</a:t>
            </a:r>
          </a:p>
          <a:p>
            <a:pPr lvl="1">
              <a:spcAft>
                <a:spcPts val="500"/>
              </a:spcAft>
            </a:pPr>
            <a:r>
              <a:rPr sz="1600">
                <a:solidFill>
                  <a:srgbClr val="555555"/>
                </a:solidFill>
              </a:rPr>
              <a:t>  . Heuristic meteor/aircraft/interference classifier; session reports.</a:t>
            </a:r>
          </a:p>
          <a:p>
            <a:pPr>
              <a:spcAft>
                <a:spcPts val="500"/>
              </a:spcAft>
            </a:pPr>
            <a:r>
              <a:rPr sz="1800">
                <a:solidFill>
                  <a:srgbClr val="222222"/>
                </a:solidFill>
              </a:rPr>
              <a:t>- v1.3 - Tabbed UI + long-run robustness</a:t>
            </a:r>
          </a:p>
          <a:p>
            <a:pPr lvl="1">
              <a:spcAft>
                <a:spcPts val="500"/>
              </a:spcAft>
            </a:pPr>
            <a:r>
              <a:rPr sz="1600">
                <a:solidFill>
                  <a:srgbClr val="555555"/>
                </a:solidFill>
              </a:rPr>
              <a:t>  . Live/Gallery tabs; auto-reconnect; async snapshots off the capture thread.</a:t>
            </a:r>
          </a:p>
          <a:p>
            <a:pPr>
              <a:spcAft>
                <a:spcPts val="500"/>
              </a:spcAft>
            </a:pPr>
            <a:r>
              <a:rPr sz="1800">
                <a:solidFill>
                  <a:srgbClr val="222222"/>
                </a:solidFill>
              </a:rPr>
              <a:t>- v1.4 - Low-memory profile</a:t>
            </a:r>
          </a:p>
          <a:p>
            <a:pPr lvl="1">
              <a:spcAft>
                <a:spcPts val="500"/>
              </a:spcAft>
            </a:pPr>
            <a:r>
              <a:rPr sz="1600">
                <a:solidFill>
                  <a:srgbClr val="555555"/>
                </a:solidFill>
              </a:rPr>
              <a:t>  . Fits the 1 GB Pi 3B+: byte-bounded queue, chunked FFT, circular ring,</a:t>
            </a:r>
          </a:p>
          <a:p>
            <a:pPr lvl="1">
              <a:spcAft>
                <a:spcPts val="500"/>
              </a:spcAft>
            </a:pPr>
            <a:r>
              <a:rPr sz="1600">
                <a:solidFill>
                  <a:srgbClr val="555555"/>
                </a:solidFill>
              </a:rPr>
              <a:t>  . npz snapshot mode + PC-side rendering. config.py PROFILES['pi'].</a:t>
            </a:r>
          </a:p>
          <a:p>
            <a:pPr>
              <a:spcAft>
                <a:spcPts val="500"/>
              </a:spcAft>
            </a:pPr>
            <a:r>
              <a:rPr sz="1800">
                <a:solidFill>
                  <a:srgbClr val="222222"/>
                </a:solidFill>
              </a:rPr>
              <a:t>- v1.5 - Measured exposure  (CURRENT)</a:t>
            </a:r>
          </a:p>
          <a:p>
            <a:pPr lvl="1">
              <a:spcAft>
                <a:spcPts val="500"/>
              </a:spcAft>
            </a:pPr>
            <a:r>
              <a:rPr sz="1600">
                <a:solidFill>
                  <a:srgbClr val="555555"/>
                </a:solidFill>
              </a:rPr>
              <a:t>  . sessions.csv uptime log; diurnal rates divide by REAL observing hours.</a:t>
            </a:r>
          </a:p>
          <a:p>
            <a:pPr>
              <a:spcAft>
                <a:spcPts val="500"/>
              </a:spcAft>
            </a:pPr>
            <a:r>
              <a:rPr sz="1800">
                <a:solidFill>
                  <a:srgbClr val="222222"/>
                </a:solidFill>
              </a:rPr>
              <a:t>- Next</a:t>
            </a:r>
          </a:p>
          <a:p>
            <a:pPr lvl="1">
              <a:spcAft>
                <a:spcPts val="500"/>
              </a:spcAft>
            </a:pPr>
            <a:r>
              <a:rPr sz="1600">
                <a:solidFill>
                  <a:srgbClr val="555555"/>
                </a:solidFill>
              </a:rPr>
              <a:t>  . Real-hardware validation on a Pi; trained classifier; dark theme; .exe packaging.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510528"/>
            <a:ext cx="7772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999999"/>
                </a:solidFill>
              </a:rPr>
              <a:t>Radio Meteor Tracker  ·  Code &amp; Versions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0" y="6510528"/>
            <a:ext cx="35661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999999"/>
                </a:solidFill>
              </a:rPr>
              <a:t>code v1.5  ·  2026-07-13  ·  15/18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77B4"/>
                </a:solidFill>
              </a:rPr>
              <a:t>An observing session: a meteor shower night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234440"/>
            <a:ext cx="11064240" cy="38100"/>
          </a:xfrm>
          <a:prstGeom prst="rect">
            <a:avLst/>
          </a:prstGeom>
          <a:solidFill>
            <a:srgbClr val="1F77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554480"/>
            <a:ext cx="1106424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800">
                <a:solidFill>
                  <a:srgbClr val="222222"/>
                </a:solidFill>
              </a:rPr>
              <a:t>- Example: Perseids peak, night of Aug 12-13 (also Delta Aquariids late Jul).</a:t>
            </a:r>
          </a:p>
          <a:p>
            <a:pPr>
              <a:spcAft>
                <a:spcPts val="500"/>
              </a:spcAft>
            </a:pPr>
            <a:r>
              <a:rPr sz="1800">
                <a:solidFill>
                  <a:srgbClr val="222222"/>
                </a:solidFill>
              </a:rPr>
              <a:t>- Before: python fm_vacancy.py to confirm 104.3 still clear; check gain fixed.</a:t>
            </a:r>
          </a:p>
          <a:p>
            <a:pPr>
              <a:spcAft>
                <a:spcPts val="500"/>
              </a:spcAft>
            </a:pPr>
            <a:r>
              <a:rPr sz="1800">
                <a:solidFill>
                  <a:srgbClr val="222222"/>
                </a:solidFill>
              </a:rPr>
              <a:t>- Run: python meteor_detector.py continuously, e.g. 22:00 -&gt; 06:00 local.</a:t>
            </a:r>
          </a:p>
          <a:p>
            <a:pPr lvl="1">
              <a:spcAft>
                <a:spcPts val="500"/>
              </a:spcAft>
            </a:pPr>
            <a:r>
              <a:rPr sz="1600">
                <a:solidFill>
                  <a:srgbClr val="555555"/>
                </a:solidFill>
              </a:rPr>
              <a:t>  . Snapshots ON; CSV logging the whole night.</a:t>
            </a:r>
          </a:p>
          <a:p>
            <a:pPr>
              <a:spcAft>
                <a:spcPts val="500"/>
              </a:spcAft>
            </a:pPr>
            <a:r>
              <a:rPr sz="1800">
                <a:solidFill>
                  <a:srgbClr val="222222"/>
                </a:solidFill>
              </a:rPr>
              <a:t>- Expect: ping rate RISES after local midnight toward dawn (Earth's leading</a:t>
            </a:r>
          </a:p>
          <a:p>
            <a:pPr lvl="1">
              <a:spcAft>
                <a:spcPts val="500"/>
              </a:spcAft>
            </a:pPr>
            <a:r>
              <a:rPr sz="1600">
                <a:solidFill>
                  <a:srgbClr val="555555"/>
                </a:solidFill>
              </a:rPr>
              <a:t>  . side faces the meteor stream), and higher near the peak date.</a:t>
            </a:r>
          </a:p>
          <a:p>
            <a:pPr>
              <a:spcAft>
                <a:spcPts val="500"/>
              </a:spcAft>
            </a:pPr>
            <a:r>
              <a:rPr sz="1800">
                <a:solidFill>
                  <a:srgbClr val="222222"/>
                </a:solidFill>
              </a:rPr>
              <a:t>- Watch out: summer sporadic-E can mimic activity - real pings are brief;</a:t>
            </a:r>
          </a:p>
          <a:p>
            <a:pPr lvl="1">
              <a:spcAft>
                <a:spcPts val="500"/>
              </a:spcAft>
            </a:pPr>
            <a:r>
              <a:rPr sz="1600">
                <a:solidFill>
                  <a:srgbClr val="555555"/>
                </a:solidFill>
              </a:rPr>
              <a:t>  . E-skip openings last minutes and show in snapshots as sustained signal.</a:t>
            </a:r>
          </a:p>
          <a:p>
            <a:pPr>
              <a:spcAft>
                <a:spcPts val="500"/>
              </a:spcAft>
            </a:pPr>
            <a:r>
              <a:rPr sz="1800">
                <a:solidFill>
                  <a:srgbClr val="222222"/>
                </a:solidFill>
              </a:rPr>
              <a:t>- After: review snapshots, classify, plot pings-per-hour vs time &amp; vs sporadic rate.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510528"/>
            <a:ext cx="7772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999999"/>
                </a:solidFill>
              </a:rPr>
              <a:t>Radio Meteor Tracker  ·  Code &amp; Versions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0" y="6510528"/>
            <a:ext cx="35661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999999"/>
                </a:solidFill>
              </a:rPr>
              <a:t>code v1.5  ·  2026-07-13  ·  16/18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77B4"/>
                </a:solidFill>
              </a:rPr>
              <a:t>Next steps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234440"/>
            <a:ext cx="11064240" cy="38100"/>
          </a:xfrm>
          <a:prstGeom prst="rect">
            <a:avLst/>
          </a:prstGeom>
          <a:solidFill>
            <a:srgbClr val="1F77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554480"/>
            <a:ext cx="1106424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800">
                <a:solidFill>
                  <a:srgbClr val="222222"/>
                </a:solidFill>
              </a:rPr>
              <a:t>- Antenna upgrade (biggest sensitivity gain): dipole/Yagi aimed SE to Boise.</a:t>
            </a:r>
          </a:p>
          <a:p>
            <a:pPr>
              <a:spcAft>
                <a:spcPts val="500"/>
              </a:spcAft>
            </a:pPr>
            <a:r>
              <a:rPr sz="1800">
                <a:solidFill>
                  <a:srgbClr val="222222"/>
                </a:solidFill>
              </a:rPr>
              <a:t>- Real-hardware validation of v1.3/v1.4 -- all of it is so far verified HEADLESSLY</a:t>
            </a:r>
          </a:p>
          <a:p>
            <a:pPr lvl="1">
              <a:spcAft>
                <a:spcPts val="500"/>
              </a:spcAft>
            </a:pPr>
            <a:r>
              <a:rPr sz="1600">
                <a:solidFill>
                  <a:srgbClr val="555555"/>
                </a:solidFill>
              </a:rPr>
              <a:t>  . on Windows against synthetic sources; the Pi run is still pending.</a:t>
            </a:r>
          </a:p>
          <a:p>
            <a:pPr>
              <a:spcAft>
                <a:spcPts val="500"/>
              </a:spcAft>
            </a:pPr>
            <a:r>
              <a:rPr sz="1800">
                <a:solidFill>
                  <a:srgbClr val="222222"/>
                </a:solidFill>
              </a:rPr>
              <a:t>- Frequency calibration: rtl_test -p to set freq_correction_ppm.</a:t>
            </a:r>
          </a:p>
          <a:p>
            <a:pPr>
              <a:spcAft>
                <a:spcPts val="500"/>
              </a:spcAft>
            </a:pPr>
            <a:r>
              <a:rPr sz="1800">
                <a:solidFill>
                  <a:srgbClr val="222222"/>
                </a:solidFill>
              </a:rPr>
              <a:t>- Longer unattended runs (overnight) to gather real event statistics, then</a:t>
            </a:r>
          </a:p>
          <a:p>
            <a:pPr lvl="1">
              <a:spcAft>
                <a:spcPts val="500"/>
              </a:spcAft>
            </a:pPr>
            <a:r>
              <a:rPr sz="1600">
                <a:solidFill>
                  <a:srgbClr val="555555"/>
                </a:solidFill>
              </a:rPr>
              <a:t>  . tune classifier thresholds against confirmed events. Target: Perseids Aug 12-13.</a:t>
            </a:r>
          </a:p>
          <a:p>
            <a:pPr>
              <a:spcAft>
                <a:spcPts val="500"/>
              </a:spcAft>
            </a:pPr>
            <a:r>
              <a:rPr sz="1800">
                <a:solidFill>
                  <a:srgbClr val="222222"/>
                </a:solidFill>
              </a:rPr>
              <a:t>- Later: trained classifier; dark theme + MHz axis polish; package as an .exe.</a:t>
            </a:r>
          </a:p>
          <a:p>
            <a:pPr>
              <a:spcAft>
                <a:spcPts val="500"/>
              </a:spcAft>
            </a:pPr>
            <a:r>
              <a:rPr sz="1800">
                <a:solidFill>
                  <a:srgbClr val="222222"/>
                </a:solidFill>
              </a:rPr>
              <a:t>- Optional: second reference channel (e.g., 104.5 Spokane) for cross-checking.</a:t>
            </a:r>
          </a:p>
          <a:p>
            <a:pPr>
              <a:spcAft>
                <a:spcPts val="500"/>
              </a:spcAft>
            </a:pPr>
            <a:r>
              <a:rPr sz="1800">
                <a:solidFill>
                  <a:srgbClr val="222222"/>
                </a:solidFill>
              </a:rPr>
              <a:t>- Optional: contribute counts to citizen-science meteor networks.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510528"/>
            <a:ext cx="7772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999999"/>
                </a:solidFill>
              </a:rPr>
              <a:t>Radio Meteor Tracker  ·  Code &amp; Versions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0" y="6510528"/>
            <a:ext cx="35661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999999"/>
                </a:solidFill>
              </a:rPr>
              <a:t>code v1.5  ·  2026-07-13  ·  17/18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77B4"/>
                </a:solidFill>
              </a:rPr>
              <a:t>Caveats &amp; limitations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234440"/>
            <a:ext cx="11064240" cy="38100"/>
          </a:xfrm>
          <a:prstGeom prst="rect">
            <a:avLst/>
          </a:prstGeom>
          <a:solidFill>
            <a:srgbClr val="1F77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554480"/>
            <a:ext cx="1106424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800">
                <a:solidFill>
                  <a:srgbClr val="222222"/>
                </a:solidFill>
              </a:rPr>
              <a:t>- Small whip antenna limits sensitivity -&gt; expect low ping rates for now.</a:t>
            </a:r>
          </a:p>
          <a:p>
            <a:pPr>
              <a:spcAft>
                <a:spcPts val="500"/>
              </a:spcAft>
            </a:pPr>
            <a:r>
              <a:rPr sz="1800">
                <a:solidFill>
                  <a:srgbClr val="222222"/>
                </a:solidFill>
              </a:rPr>
              <a:t>- Summer sporadic-E (Jun-Aug) can cause false pings; distinguish by duration.</a:t>
            </a:r>
          </a:p>
          <a:p>
            <a:pPr>
              <a:spcAft>
                <a:spcPts val="500"/>
              </a:spcAft>
            </a:pPr>
            <a:r>
              <a:rPr sz="1800">
                <a:solidFill>
                  <a:srgbClr val="222222"/>
                </a:solidFill>
              </a:rPr>
              <a:t>- RTL-SDR frequency drift until warmed up / ppm-calibrated.</a:t>
            </a:r>
          </a:p>
          <a:p>
            <a:pPr>
              <a:spcAft>
                <a:spcPts val="500"/>
              </a:spcAft>
            </a:pPr>
            <a:r>
              <a:rPr sz="1800">
                <a:solidFill>
                  <a:srgbClr val="222222"/>
                </a:solidFill>
              </a:rPr>
              <a:t>- Only one process may hold the dongle at a time.</a:t>
            </a:r>
          </a:p>
          <a:p>
            <a:pPr>
              <a:spcAft>
                <a:spcPts val="500"/>
              </a:spcAft>
            </a:pPr>
            <a:r>
              <a:rPr sz="1800">
                <a:solidFill>
                  <a:srgbClr val="222222"/>
                </a:solidFill>
              </a:rPr>
              <a:t>- pyrtlsdr patch lives in site-packages; a reinstall reverts it.</a:t>
            </a:r>
          </a:p>
          <a:p>
            <a:pPr>
              <a:spcAft>
                <a:spcPts val="500"/>
              </a:spcAft>
            </a:pPr>
            <a:r>
              <a:rPr sz="1800">
                <a:solidFill>
                  <a:srgbClr val="222222"/>
                </a:solidFill>
              </a:rPr>
              <a:t>- Classification (v1.2+) is HEURISTIC, not trained -- treat labels as triage, and</a:t>
            </a:r>
          </a:p>
          <a:p>
            <a:pPr lvl="1">
              <a:spcAft>
                <a:spcPts val="500"/>
              </a:spcAft>
            </a:pPr>
            <a:r>
              <a:rPr sz="1600">
                <a:solidFill>
                  <a:srgbClr val="555555"/>
                </a:solidFill>
              </a:rPr>
              <a:t>  . expect to tune the thresholds in config.py against confirmed events.</a:t>
            </a:r>
          </a:p>
          <a:p>
            <a:pPr>
              <a:spcAft>
                <a:spcPts val="500"/>
              </a:spcAft>
            </a:pPr>
            <a:r>
              <a:rPr sz="1800">
                <a:solidFill>
                  <a:srgbClr val="222222"/>
                </a:solidFill>
              </a:rPr>
              <a:t>- Under heavy load a SNAPSHOT may be dropped (v1.3/v1.4 governors) -- the EVENT is</a:t>
            </a:r>
          </a:p>
          <a:p>
            <a:pPr lvl="1">
              <a:spcAft>
                <a:spcPts val="500"/>
              </a:spcAft>
            </a:pPr>
            <a:r>
              <a:rPr sz="1600">
                <a:solidFill>
                  <a:srgbClr val="555555"/>
                </a:solidFill>
              </a:rPr>
              <a:t>  . always still classified and logged, so the counts never suffer.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510528"/>
            <a:ext cx="7772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999999"/>
                </a:solidFill>
              </a:rPr>
              <a:t>Radio Meteor Tracker  ·  Code &amp; Versions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0" y="6510528"/>
            <a:ext cx="35661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999999"/>
                </a:solidFill>
              </a:rPr>
              <a:t>code v1.5  ·  2026-07-13  ·  18/18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